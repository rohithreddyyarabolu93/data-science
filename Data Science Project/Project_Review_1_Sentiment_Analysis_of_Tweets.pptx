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4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22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Ch Bhuvan – 2420030767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 Rohith Reddy – 2420030138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 Deekshith – 2420030274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3447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 Pratusha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Tweets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Problem Statement Box"/>
          <p:cNvSpPr/>
          <p:nvPr/>
        </p:nvSpPr>
        <p:spPr>
          <a:xfrm>
            <a:off x="838200" y="1500000"/>
            <a:ext cx="10515600" cy="15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  <a:r>
              <a:rPr lang="en-US" sz="2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machine learning system that automatically classifies tweets as positive or negative, even though tweets are short, noisy and informal, and to present the results through an easy-to-use interactive dashboard.</a:t>
            </a:r>
          </a:p>
        </p:txBody>
      </p:sp>
      <p:sp>
        <p:nvSpPr>
          <p:cNvPr id="21" name="Why It Is a Problem"/>
          <p:cNvSpPr txBox="1"/>
          <p:nvPr/>
        </p:nvSpPr>
        <p:spPr>
          <a:xfrm>
            <a:off x="838200" y="3250000"/>
            <a:ext cx="10515600" cy="3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26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is a problem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Huge volume: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tweets are posted every day, so reading them manually to judge public opinion is impractical.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Noisy, informal text: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slang, abbreviations, emojis, hashtags, URLs, mentions and spelling mistakes make standard text-processing methods unreliable.</a:t>
            </a:r>
          </a:p>
          <a:p>
            <a:pPr marL="342900" indent="-342900" algn="l">
              <a:spcAft>
                <a:spcPts val="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use: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predictions are not enough; users need quick, visual and interactive results to understand overall sentiment.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Objectives Content"/>
          <p:cNvSpPr txBox="1"/>
          <p:nvPr/>
        </p:nvSpPr>
        <p:spPr>
          <a:xfrm>
            <a:off x="838200" y="1500000"/>
            <a:ext cx="10515600" cy="4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the Sentiment140 dataset (1.6 million labeled tweets) and clean the noisy text with a tweet-specific preprocessing pipeline.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cleaned tweets into numerical features using TF-IDF with unigrams and bigrams.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Logistic Regression, Naive Bayes and Linear SVM classifiers for positive/negative sentiment classification.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models using accuracy, precision, recall, F1-score and confusion matrices, and benchmark them against the rule-based VADER analyzer.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Streamlit dashboard that predicts the sentiment of any tweet and visualizes overall sentiment trends.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3879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Go, Bhayani &amp; Huang [</a:t>
                      </a:r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Twitter Sentiment Classification using Distant Supervision, Stanford CS224N Project Report,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Emoticons as noisy labels on a large tweet set (Sentiment140)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Bayes, MaxEnt and SVM on unigram, bigram and POS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three classifiers exceed 80% accuracy on emoticon-labeled training data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the preprocessing steps needed for tweets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positive and negative classes; neutral left as future work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Emoticon labels are noisy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Pak &amp; Paroubek [</a:t>
                      </a:r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Twitter as a Corpus for Sentiment Analysis and Opinion Mining, LREC, 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Corpus built automatically from emoticons; news-account tweets as neutral class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Multinomial Naive Bayes with n-gram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Twitter can be used to build a sentiment corpus automatically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 separates positive, negative and neutral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Emoticon labeling may not reflect true sentiment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n-grams capture only short local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Agarwal et al. [</a:t>
                      </a:r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of Twitter Data, Workshop on Language in Social Media (ACL),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POS-specific prior-polarity features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kernel to avoid manual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features and tree kernel perform similarly, both outperforming a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POS tagging and lexicon resources; heavier than a bag-of-words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Hutto &amp; Gilbert [</a:t>
                      </a:r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VADER: A Parsimonious Rule-Based Model for Sentiment Analysis of Social Media Text, ICWSM,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Lexicon of social-media terms with intensity scores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Five grammatical rules for emphasizing sentiment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tweets, F1 of 0.96 vs 0.84 for human raters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Generalizes better across domains than its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vocabulary; cannot learn new slang from data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this project as a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Barbieri et al. [</a:t>
                      </a:r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TweetEval: Unified Benchmark and Comparative Evaluation for Tweet Classification, Findings of EMNLP,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of seven Twitter classification tasks, incl. sentiment</a:t>
                      </a:r>
                    </a:p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language-model pre-training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training pre-trained language models on Twitter text is effective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transformers need heavy compute; lightweight models stay relevant for student-scale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524000" y="60007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Problem Gap Table"/>
          <p:cNvGraphicFramePr>
            <a:graphicFrameLocks noGrp="1"/>
          </p:cNvGraphicFramePr>
          <p:nvPr/>
        </p:nvGraphicFramePr>
        <p:xfrm>
          <a:off x="838200" y="1550000"/>
          <a:ext cx="10515600" cy="450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identified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this project addresses it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Tweets are noisy and informal (slang, emojis, hashtags, URLs), and generic text pipelines lose useful signal.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tweet-specific cleaning pipeline that normalizes the text, removes URLs and mentions, then tokenizes and lemmatizes.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Emoticon-labeled datasets have noisy labels and cover only positive and negative classes.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Sentiment140 at full scale and reports precision, recall and F1-score, not just accuracy; the neutral class is left as future work.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transformer models give strong results but need heavy computing, which is impractical for lightweight, student-scale use.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TF-IDF features with classical classifiers that train on a laptop, benchmarked against the VADER baseline.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prototypes stop at accuracy scores and give non-technical users no way to try the model.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Streamlit dashboard: enter a tweet and get an instant prediction, the overall sentiment distribution and frequent words.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096000" y="567351"/>
            <a:ext cx="10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Innovation Content"/>
          <p:cNvSpPr txBox="1"/>
          <p:nvPr/>
        </p:nvSpPr>
        <p:spPr>
          <a:xfrm>
            <a:off x="838200" y="1500000"/>
            <a:ext cx="10515600" cy="4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Aft>
                <a:spcPts val="11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Tweet-aware preprocessing: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tuned for noisy social-media text (URLs, mentions, special characters), followed by tokenization and lemmatization.</a:t>
            </a:r>
          </a:p>
          <a:p>
            <a:pPr marL="342900" indent="-342900" algn="l">
              <a:spcAft>
                <a:spcPts val="11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Phrase-aware features: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with unigrams and bigrams captures short phrases such as "not good" that single words would miss.</a:t>
            </a:r>
          </a:p>
          <a:p>
            <a:pPr marL="342900" indent="-342900" algn="l">
              <a:spcAft>
                <a:spcPts val="11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model comparison: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classical classifiers and the rule-based VADER lexicon are evaluated on the same data split with the same metrics.</a:t>
            </a:r>
          </a:p>
          <a:p>
            <a:pPr marL="342900" indent="-342900" algn="l">
              <a:spcAft>
                <a:spcPts val="11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with a probability score, the overall sentiment distribution and frequent words in each class.</a:t>
            </a:r>
          </a:p>
          <a:p>
            <a:pPr marL="342900" indent="-342900" algn="l">
              <a:spcAft>
                <a:spcPts val="11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reproducible: </a:t>
            </a:r>
            <a:r>
              <a:rPr lang="en-US" sz="22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with free, open-source tools; trains on a standard laptop and needs no paid API.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096000" y="567351"/>
            <a:ext cx="10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Stage0"/>
          <p:cNvSpPr/>
          <p:nvPr/>
        </p:nvSpPr>
        <p:spPr>
          <a:xfrm>
            <a:off x="911000" y="1750000"/>
            <a:ext cx="16500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Tweets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Sentiment140 dataset</a:t>
            </a:r>
          </a:p>
        </p:txBody>
      </p:sp>
      <p:sp>
        <p:nvSpPr>
          <p:cNvPr id="101" name="Arrow0"/>
          <p:cNvSpPr/>
          <p:nvPr/>
        </p:nvSpPr>
        <p:spPr>
          <a:xfrm>
            <a:off x="2701000" y="2150000"/>
            <a:ext cx="250000" cy="2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age1"/>
          <p:cNvSpPr/>
          <p:nvPr/>
        </p:nvSpPr>
        <p:spPr>
          <a:xfrm>
            <a:off x="3091000" y="1750000"/>
            <a:ext cx="16500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tokenize, lemmatize</a:t>
            </a:r>
          </a:p>
        </p:txBody>
      </p:sp>
      <p:sp>
        <p:nvSpPr>
          <p:cNvPr id="103" name="Arrow1"/>
          <p:cNvSpPr/>
          <p:nvPr/>
        </p:nvSpPr>
        <p:spPr>
          <a:xfrm>
            <a:off x="4881000" y="2150000"/>
            <a:ext cx="250000" cy="2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age2"/>
          <p:cNvSpPr/>
          <p:nvPr/>
        </p:nvSpPr>
        <p:spPr>
          <a:xfrm>
            <a:off x="5271000" y="1750000"/>
            <a:ext cx="16500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Features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Unigrams + bigrams</a:t>
            </a:r>
          </a:p>
        </p:txBody>
      </p:sp>
      <p:sp>
        <p:nvSpPr>
          <p:cNvPr id="105" name="Arrow2"/>
          <p:cNvSpPr/>
          <p:nvPr/>
        </p:nvSpPr>
        <p:spPr>
          <a:xfrm>
            <a:off x="7061000" y="2150000"/>
            <a:ext cx="250000" cy="2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age3"/>
          <p:cNvSpPr/>
          <p:nvPr/>
        </p:nvSpPr>
        <p:spPr>
          <a:xfrm>
            <a:off x="7451000" y="1750000"/>
            <a:ext cx="16500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Classifier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LogReg / Naive Bayes / SVM</a:t>
            </a:r>
          </a:p>
        </p:txBody>
      </p:sp>
      <p:sp>
        <p:nvSpPr>
          <p:cNvPr id="107" name="Arrow3"/>
          <p:cNvSpPr/>
          <p:nvPr/>
        </p:nvSpPr>
        <p:spPr>
          <a:xfrm>
            <a:off x="9241000" y="2150000"/>
            <a:ext cx="250000" cy="2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age4"/>
          <p:cNvSpPr/>
          <p:nvPr/>
        </p:nvSpPr>
        <p:spPr>
          <a:xfrm>
            <a:off x="9631000" y="1750000"/>
            <a:ext cx="1650000" cy="100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Output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 + score</a:t>
            </a:r>
          </a:p>
        </p:txBody>
      </p:sp>
      <p:sp>
        <p:nvSpPr>
          <p:cNvPr id="109" name="Dashboard"/>
          <p:cNvSpPr/>
          <p:nvPr/>
        </p:nvSpPr>
        <p:spPr>
          <a:xfrm>
            <a:off x="4496000" y="3450000"/>
            <a:ext cx="3200000" cy="90000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Streamlit: live prediction + charts</a:t>
            </a:r>
          </a:p>
        </p:txBody>
      </p:sp>
      <p:cxnSp>
        <p:nvCxnSpPr>
          <p:cNvPr id="111" name="Connector2"/>
          <p:cNvCxnSpPr/>
          <p:nvPr/>
        </p:nvCxnSpPr>
        <p:spPr>
          <a:xfrm>
            <a:off x="10456000" y="2750000"/>
            <a:ext cx="0" cy="7000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</p:cxnSp>
      <p:sp>
        <p:nvSpPr>
          <p:cNvPr id="112" name="Caption"/>
          <p:cNvSpPr txBox="1"/>
          <p:nvPr/>
        </p:nvSpPr>
        <p:spPr>
          <a:xfrm>
            <a:off x="838200" y="4500000"/>
            <a:ext cx="105156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Layered, modular pipeline: each stage (preprocessing, feature extraction, classification, visualization) can be swapped or improved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296000" y="551058"/>
            <a:ext cx="96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Feasibility Technical"/>
          <p:cNvSpPr/>
          <p:nvPr/>
        </p:nvSpPr>
        <p:spPr>
          <a:xfrm>
            <a:off x="838200" y="1450000"/>
            <a:ext cx="3352800" cy="130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scikit-learn, NLTK and Streamlit are free, open-source and well documented.</a:t>
            </a:r>
          </a:p>
        </p:txBody>
      </p:sp>
      <p:sp>
        <p:nvSpPr>
          <p:cNvPr id="21" name="Feasibility Data"/>
          <p:cNvSpPr/>
          <p:nvPr/>
        </p:nvSpPr>
        <p:spPr>
          <a:xfrm>
            <a:off x="4419600" y="1450000"/>
            <a:ext cx="3352800" cy="130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Sentiment140 is publicly available with 1.6 million labeled tweets; no restricted API access is needed.</a:t>
            </a:r>
          </a:p>
        </p:txBody>
      </p:sp>
      <p:sp>
        <p:nvSpPr>
          <p:cNvPr id="22" name="Feasibility Resources"/>
          <p:cNvSpPr/>
          <p:nvPr/>
        </p:nvSpPr>
        <p:spPr>
          <a:xfrm>
            <a:off x="8001000" y="1450000"/>
            <a:ext cx="3352800" cy="130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a standard laptop; no paid tools or cloud services are required.</a:t>
            </a:r>
          </a:p>
        </p:txBody>
      </p:sp>
      <p:sp>
        <p:nvSpPr>
          <p:cNvPr id="30" name="Timeline Heading"/>
          <p:cNvSpPr txBox="1"/>
          <p:nvPr/>
        </p:nvSpPr>
        <p:spPr>
          <a:xfrm>
            <a:off x="838200" y="2850000"/>
            <a:ext cx="105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(12 weeks)</a:t>
            </a:r>
          </a:p>
        </p:txBody>
      </p:sp>
      <p:graphicFrame>
        <p:nvGraphicFramePr>
          <p:cNvPr id="31" name="Project Timeline"/>
          <p:cNvGraphicFramePr>
            <a:graphicFrameLocks noGrp="1"/>
          </p:cNvGraphicFramePr>
          <p:nvPr/>
        </p:nvGraphicFramePr>
        <p:xfrm>
          <a:off x="838200" y="3230000"/>
          <a:ext cx="10515600" cy="3025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40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2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6858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W4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W5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W6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W7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W8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W9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W10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W11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W12</a:t>
                      </a:r>
                    </a:p>
                  </a:txBody>
                  <a:tcPr marL="18000" marR="1800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 and requirements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and preprocessing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(TF-IDF)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and tuning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and VADER comparison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development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documentation, final review</a:t>
                      </a:r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 lang="en-US" sz="800" dirty="0"/>
                    </a:p>
                  </a:txBody>
                  <a:tcPr marL="68580" marR="68580" anchor="ctr"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1092</Words>
  <Application>Microsoft Office PowerPoint</Application>
  <PresentationFormat>Widescreen</PresentationFormat>
  <Paragraphs>156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ROHITH REDDY</cp:lastModifiedBy>
  <cp:revision>34</cp:revision>
  <dcterms:created xsi:type="dcterms:W3CDTF">2026-08-08T06:33:56Z</dcterms:created>
  <dcterms:modified xsi:type="dcterms:W3CDTF">2026-09-22T04:45:52Z</dcterms:modified>
</cp:coreProperties>
</file>